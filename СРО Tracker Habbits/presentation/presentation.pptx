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BM Plex Mono Bold" panose="020B0604020202020204" charset="-52"/>
      <p:regular r:id="rId16"/>
    </p:embeddedFont>
    <p:embeddedFont>
      <p:font typeface="IBM Plex Mono SemiBold" panose="020B0604020202020204" charset="-52"/>
      <p:regular r:id="rId17"/>
    </p:embeddedFont>
    <p:embeddedFont>
      <p:font typeface="IBM Plex Mono" panose="020B0604020202020204" charset="-52"/>
      <p:regular r:id="rId18"/>
    </p:embeddedFont>
    <p:embeddedFont>
      <p:font typeface="IBM Plex Mono Medium" panose="020B0604020202020204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63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Здравствуйте, уважаемая комиссия и преподаватель! Меня зовут Бактыгалиев Амир, студент группы ИС-25-22. Представляю проект самостоятельной работы по дисциплине «Языки и технология программирования» — Habby: 8-Bit Pixel Habit Tracker. Наш слоган: «Прокачай привычки как героя восьмибитной игры». Цель разработки — превратить рутинный трекинг ежедневных задач в увлекательную RPG-механику, сохранив простоту запуска и надёжную серверную архитектуру на чистом стеке веб-технологий.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проблема подавляющего большинства мобильных и веб-трекеров — монотонность. Пользователь открывает сухие электронные таблицы, ставит однотипные галочки и быстро забрасывает процесс из-за отсутствия эмоциональной отдачи. В Habby эта проблема решается тремя рычагами: теплой эстетикой консолей Game Boy, понятной игровой прогрессией с очками опыта и уровнями, а также живым помощником Habby. Маскот напрямую комментирует поведение пользователя, создавая ощущение настоящего диалога и личной ответственности за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сервиса сознательно выполнена лёгкой и надёжной. На стороне клиента используется чистый фронтенд: семантический HTML5, модульный CSS3, нативный JavaScript и Canvas для генерации графики. Серверная часть реализована на Python 3 с использованием микрофреймворка Flask. Все данные передаются по протоколу HTTP в формате JSON и сохраняются в habby_save.json. В исходном коде строго применены материалы лекций 1 по 8: структуры данных на словарях и списках, функции, обработка исключений try-except и безопасный файловый ввод-вывод.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данном слайде представлены четыре базовых модуля игровой механики. Во-первых, это полноценный CRUD-цикл управления квестами. Во-вторых, алгоритмический подсчет серии выполнений через стандартный модуль datetime: комбо увеличивается ровно раз в сутки и фиксирует максимальный стрик. В-третьих, ролевая модель, где действия приносят опыт и поднимают уровень аккаунта. В-четвертых, маскот Habby с процедурной сменой спрайтов и реплик, который встречает пользователя персонализированными подсказками в зависимости от его текущего игрового ранга.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Особое внимание уделено эстетике и социальной составляющей. Мы воссоздали тактильное ощущение портативной консоли: адаптивный корпус Game Boy, пиксельные шрифты, характерные сканлайны монитора и чиптюн-звуки через Web Audio API без внешних аудиофайлов. Чтобы привычками хотелось делиться, встроен генератор карточек на HTML5 Canvas: в один клик создаётся стильный ретро-сертификат с текущим уровнем, персонажем и серией побед, который автоматически копируется в буфер обмена для отправки в мессенджеры и соцсети.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 и отказоустойчивость приложения подкреплены тремя защитными барьерами. Первый — санитайзинг пользовательского ввода: отсечение краевых пробелов, недопущение пустых заголовков и регистронезависимая защита от дубликатов задач. Второй — защита от накрутки: приложение проверяет таймстемп последнего выполнения и не позволяет искусственно увеличивать комбо повторными кликами в один и тот же день. Третий — гарантия целостности хранилища: блок try-except при старте сервера валидирует структуру habby_save.json и восстанавливает базовую схему при повреждении 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подтверждения работоспособности проекта был реализован тест-план, опубликованный в репозитории. Рассмотрим ключевые тест-кейсы: TC-01 проверяет штатное добавление задачи с начислением стартового опыта и звуковым сигналом. TC-02 демонстрирует закрытие квеста с ростом дневного прогресса и инкрементом комбо. Тесты TC-05 и TC-06 подтверждают надежность валидации: пустое поле и дублирующие записи отклоняются с понятными предупреждениями. Наконец, тест TC-08 проверяет фильтрацию во вкладке «Готово», гарантируя вывод исключительно актуальных выполненных задач текущего 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Подведём итоги проделанной работы. В рамках СРО создан завершённый веб-продукт: чистый интерфейс, стабильный серверный бэкенд на Flask, полная реализация программных требований и успешное прохождение всех тестовых сценариев. Код проекта открыт и структурирован. В качестве дорожной карты развития запланированы три логических этапа: добавление авторизации пользователей, переход от файлового JSON-хранилища к промышленным базам данных SQLite или PostgreSQL, а также глобальный лидерборд для соревновательного эффекта между пользователями.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Большое спасибо за внимание! Исходный код трекера, документация и тестовые сценарии доступны в публичном репозитории на GitHub: github.com/gkillg/programming-languages-and-technologies в рабочей директории проекта «СРО Tracker Habbits». Проект полностью готов к демонстрации запуска в терминале и в браузере. Буду рад ответить на любые вопросы комиссии и преподавателя по кодовой базе, архитектурным решениям и механизмам тестирования.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1336675"/>
          </a:xfrm>
          <a:prstGeom prst="rect">
            <a:avLst/>
          </a:prstGeom>
          <a:solidFill>
            <a:srgbClr val="17231C"/>
          </a:solidFill>
          <a:ln w="6350">
            <a:solidFill>
              <a:srgbClr val="2E6D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7532" y="596106"/>
            <a:ext cx="236224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HABBY.EXE /boot/main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426340" y="596106"/>
            <a:ext cx="15050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[-] [1] [X]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399" y="1362075"/>
            <a:ext cx="12140896" cy="4133850"/>
          </a:xfrm>
          <a:prstGeom prst="rect">
            <a:avLst/>
          </a:prstGeom>
          <a:solidFill>
            <a:srgbClr val="07110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5" y="1539875"/>
            <a:ext cx="11785305" cy="3778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288" y="1839516"/>
            <a:ext cx="638446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СРО · ЯЗЫКИ И ТЕХНОЛОГИИ ПРОГРАММИРОВАНИЯ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5288" y="2195513"/>
            <a:ext cx="61050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216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HABBY: 8-BIT</a:t>
            </a:r>
            <a:endParaRPr lang="en-US" sz="5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216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HABIT TRACKER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95288" y="3689001"/>
            <a:ext cx="6384468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Прокачай привычки как героя 8-bit игры.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95288" y="4712422"/>
            <a:ext cx="6384468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&gt; PRESS_START_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879755" y="1552575"/>
            <a:ext cx="5096045" cy="3752850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40099" y="1831975"/>
            <a:ext cx="457535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SYSTEM INFO </a:t>
            </a:r>
            <a:r>
              <a:rPr lang="en-US" sz="2400" dirty="0">
                <a:solidFill>
                  <a:srgbClr val="39FF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[OK]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40099" y="2561630"/>
          <a:ext cx="4549959" cy="2457983"/>
        </p:xfrm>
        <a:graphic>
          <a:graphicData uri="http://schemas.openxmlformats.org/drawingml/2006/table">
            <a:tbl>
              <a:tblPr/>
              <a:tblGrid>
                <a:gridCol w="22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8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АВТОР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Бактыгалиев Амир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ГРУППА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ИС-25-22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GITHUB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gkillg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СТАТУС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[READY]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140099" y="3377187"/>
            <a:ext cx="4549959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40099" y="3924663"/>
            <a:ext cx="4549959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0099" y="4472138"/>
            <a:ext cx="4549959" cy="12700"/>
          </a:xfrm>
          <a:prstGeom prst="rect">
            <a:avLst/>
          </a:prstGeom>
          <a:solidFill>
            <a:srgbClr val="2E6D3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495925"/>
            <a:ext cx="12140896" cy="1336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532" y="6066631"/>
            <a:ext cx="245748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STATUS: 8-BIT RUNNING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188121" y="6066631"/>
            <a:ext cx="274323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v1.0.0 · PORT 5000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873405" y="1552575"/>
            <a:ext cx="12700" cy="3752850"/>
          </a:xfrm>
          <a:prstGeom prst="rect">
            <a:avLst/>
          </a:prstGeom>
          <a:solidFill>
            <a:srgbClr val="2E6D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5857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644" y="253206"/>
            <a:ext cx="3863283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PROBLEM.LOG — /FRICTION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247644" y="1000668"/>
            <a:ext cx="3863283" cy="1476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СУХИЕ ТАБЛИЦЫ УБИВАЮТ МОТИВАЦИЮ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47644" y="2626150"/>
            <a:ext cx="3863283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Классические трекеры превращаются в унылую бюрократию галочек, где интерес угасает за первую неделю.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47644" y="6409531"/>
            <a:ext cx="411092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DIAGNOSIS: CHECKLIST FATIGUE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64" y="0"/>
            <a:ext cx="7528431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10908" y="253206"/>
            <a:ext cx="7033144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 / RETRO-GAMIFICATION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987106" y="931069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448164" y="944166"/>
            <a:ext cx="64958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ЭСТЕТИКА GAME BOY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48164" y="1229519"/>
            <a:ext cx="641968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Ностальгический UI вместо скучных ячеек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448164" y="1668685"/>
            <a:ext cx="6419689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Пиксельная графика, CRT-сканлайны и чиптюн-звуки создают атмосферу классической портативной консоли.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87106" y="245169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448164" y="2464792"/>
            <a:ext cx="64958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RPG-ПРОГРЕССИЯ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48164" y="2750145"/>
            <a:ext cx="641968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Опыт и комбо-серии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448164" y="3189311"/>
            <a:ext cx="6419689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Каждое выполненное действие начисляет XP, продвигает шкалу уровня и закрепляет серию без права на пропуск.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987106" y="3972322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5448164" y="3985419"/>
            <a:ext cx="64958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ЖИВОЙ МАСКОТ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8164" y="4270772"/>
            <a:ext cx="641968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Виртуальный помощник Habby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5448164" y="4709938"/>
            <a:ext cx="6419689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Интерактивный персонаж динамически реагирует репликами и эмоциями на рекорды или пассивность игрока.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4910908" y="2298502"/>
            <a:ext cx="7033144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22" name="Shape 18"/>
          <p:cNvSpPr/>
          <p:nvPr/>
        </p:nvSpPr>
        <p:spPr>
          <a:xfrm>
            <a:off x="4910908" y="3819128"/>
            <a:ext cx="7033144" cy="12700"/>
          </a:xfrm>
          <a:prstGeom prst="rect">
            <a:avLst/>
          </a:prstGeom>
          <a:solidFill>
            <a:srgbClr val="2E6D3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1311275"/>
          </a:xfrm>
          <a:prstGeom prst="rect">
            <a:avLst/>
          </a:prstGeom>
          <a:solidFill>
            <a:srgbClr val="17231C"/>
          </a:solidFill>
          <a:ln w="6350">
            <a:solidFill>
              <a:srgbClr val="2E6D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33" y="583406"/>
            <a:ext cx="404494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ARCH.SYS — /CLIENT-SERVER [—] [□] [X]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810405" y="583406"/>
            <a:ext cx="21717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FLASK + VANILLA JS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399" y="1336675"/>
            <a:ext cx="12140896" cy="4184650"/>
          </a:xfrm>
          <a:prstGeom prst="rect">
            <a:avLst/>
          </a:prstGeom>
          <a:solidFill>
            <a:srgbClr val="07110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" y="1876227"/>
            <a:ext cx="11734506" cy="2192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690" y="2048867"/>
            <a:ext cx="375057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93690" y="2338189"/>
            <a:ext cx="359817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Чистый стек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93690" y="2852761"/>
            <a:ext cx="3598177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HTML5, CSS3, ES6 JavaScript, HTML5 Canvas без сторонних тяжелых фреймворков.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93690" y="3703141"/>
            <a:ext cx="375057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VIEW LAYER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44264" y="1888927"/>
            <a:ext cx="3903069" cy="2167434"/>
          </a:xfrm>
          <a:prstGeom prst="rect">
            <a:avLst/>
          </a:prstGeom>
          <a:noFill/>
          <a:ln w="12700">
            <a:solidFill>
              <a:srgbClr val="39F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6660" y="2048867"/>
            <a:ext cx="375067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BACKEND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96660" y="2338189"/>
            <a:ext cx="359827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Python 3 + Flask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296660" y="2852761"/>
            <a:ext cx="3598276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Сервер в app.py, маршрутизация эндпоинтов, шаблоны в templates/, статика в static/.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296660" y="3703141"/>
            <a:ext cx="375067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HTTP JSON API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99728" y="2048867"/>
            <a:ext cx="375057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STORAGE &amp; RUN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99728" y="2338189"/>
            <a:ext cx="359817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habby_save.json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199728" y="2852761"/>
            <a:ext cx="3598177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Атомарная сериализация JSON. Запуск: pip install flask &amp;&amp; python app.py (localhost:5000).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199728" y="3703141"/>
            <a:ext cx="375057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FILE STORAGE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28594" y="4221460"/>
            <a:ext cx="11734506" cy="760214"/>
          </a:xfrm>
          <a:prstGeom prst="rect">
            <a:avLst/>
          </a:prstGeom>
          <a:solidFill>
            <a:srgbClr val="17231C"/>
          </a:solidFill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2740" y="4364557"/>
            <a:ext cx="11366216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39FF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ПРАКТИКА ЛЕКЦИЙ 1–8:</a:t>
            </a: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вложенные словари и списки, строковые методы, сериализация json.dump/load, функции и циклы, try-except валидация. Репозиторий: gkillg/programming-languages-and-technologies.</a:t>
            </a:r>
            <a:endParaRPr lang="en-US" sz="14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521325"/>
            <a:ext cx="12140896" cy="13112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6733" y="6079331"/>
            <a:ext cx="531491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REPO: gkillg/programming-languages-and-technologies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143672" y="6079331"/>
            <a:ext cx="283847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STACK: PY3 / FLASK / JSON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137914" y="1888927"/>
            <a:ext cx="12700" cy="2167434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26" name="Shape 22"/>
          <p:cNvSpPr/>
          <p:nvPr/>
        </p:nvSpPr>
        <p:spPr>
          <a:xfrm>
            <a:off x="8040982" y="1888927"/>
            <a:ext cx="12700" cy="2167434"/>
          </a:xfrm>
          <a:prstGeom prst="rect">
            <a:avLst/>
          </a:prstGeom>
          <a:solidFill>
            <a:srgbClr val="2E6D3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01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38" y="484806"/>
            <a:ext cx="6362541" cy="327620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42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CORE.ENG — /MECHANICS [—] [□] [X]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6238" y="1094609"/>
            <a:ext cx="6362541" cy="418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50" kern="100" spc="-81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ФУНКЦИОНАЛ И ГЕЙМИФИКАЦИЯ</a:t>
            </a:r>
            <a:endParaRPr lang="en-US" sz="3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38" y="1606848"/>
            <a:ext cx="6550863" cy="505023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6238" y="1464866"/>
            <a:ext cx="3016175" cy="2372717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0383" y="1786334"/>
            <a:ext cx="82309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51891" y="1801239"/>
            <a:ext cx="244052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85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ПОЛНЫЙ CRUD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51891" y="2028858"/>
            <a:ext cx="2256376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Управление привычками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51891" y="2640857"/>
            <a:ext cx="2256376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Создание квеста, мгновенное выполнение, сброс счётчика и удаление ненужных задач с обновлением локального состояния.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797205" y="1464866"/>
            <a:ext cx="3016175" cy="2372717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81350" y="1786334"/>
            <a:ext cx="82309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372858" y="1801239"/>
            <a:ext cx="244052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85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STREAK-СИСТЕМА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372858" y="2028858"/>
            <a:ext cx="2256376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Умный комбо-счётчик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372858" y="2640857"/>
            <a:ext cx="2256376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Валидация дат по библиотеке datetime. Учёт серий непрерывности, фиксация личного рекорда и защита от ложных сбросов.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6238" y="4142383"/>
            <a:ext cx="3016175" cy="2372717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0383" y="4463852"/>
            <a:ext cx="82309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51891" y="4478756"/>
            <a:ext cx="244052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85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RPG-БАЛАНС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51891" y="4706375"/>
            <a:ext cx="2256376" cy="256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XP и Level Up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51891" y="5062191"/>
            <a:ext cx="2256376" cy="969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Начисление очков опыта за закрытие задач (+15 XP), динамический расчёт текущего уровня и шкала суточного прогресса.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797205" y="4142383"/>
            <a:ext cx="3016175" cy="2372717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1350" y="4463852"/>
            <a:ext cx="823098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372858" y="4478756"/>
            <a:ext cx="244052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85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МАСКОТ HABBY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372858" y="4706375"/>
            <a:ext cx="2256376" cy="512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Интерактивный питомец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372858" y="5318374"/>
            <a:ext cx="2256376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Смена восьмибитных спрайтов настроения и контекстных реплик: восторг при высоких комбо и грусть при длительном простое.</a:t>
            </a:r>
            <a:endParaRPr lang="en-US" sz="12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206" y="330200"/>
            <a:ext cx="3962301" cy="619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5857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644" y="254014"/>
            <a:ext cx="3863283" cy="298351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35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RETRO.UI — /HARDWARE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247644" y="727955"/>
            <a:ext cx="3863283" cy="269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Ретро-дизайн и окружение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7644" y="1055291"/>
          <a:ext cx="3863283" cy="1738016"/>
        </p:xfrm>
        <a:graphic>
          <a:graphicData uri="http://schemas.openxmlformats.org/drawingml/2006/table">
            <a:tbl>
              <a:tblPr/>
              <a:tblGrid>
                <a:gridCol w="167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9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2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КОРПУС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Game Boy shell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ШРИФТ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Pixel monospace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ЭФФЕКТ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CRT scanlines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ЗВУК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Web Audio 8-bit</a:t>
                      </a:r>
                      <a:endParaRPr lang="en-US" sz="11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47644" y="1478845"/>
            <a:ext cx="3863283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7" name="Shape 3"/>
          <p:cNvSpPr/>
          <p:nvPr/>
        </p:nvSpPr>
        <p:spPr>
          <a:xfrm>
            <a:off x="247644" y="1915099"/>
            <a:ext cx="3863283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8" name="Shape 4"/>
          <p:cNvSpPr/>
          <p:nvPr/>
        </p:nvSpPr>
        <p:spPr>
          <a:xfrm>
            <a:off x="247644" y="2351353"/>
            <a:ext cx="3863283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9" name="Text 5"/>
          <p:cNvSpPr/>
          <p:nvPr/>
        </p:nvSpPr>
        <p:spPr>
          <a:xfrm>
            <a:off x="247644" y="6320147"/>
            <a:ext cx="3863283" cy="298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Синтез аудиоэффектов кликов и Level Up происходит без тяжёлых mp3-файлов прямо в браузере.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63264" y="0"/>
            <a:ext cx="7528431" cy="6858000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64" y="0"/>
            <a:ext cx="7528431" cy="685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0908" y="254014"/>
            <a:ext cx="7033144" cy="298351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35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SHARE.CANVAS — /EXPORT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910908" y="722142"/>
            <a:ext cx="7280787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100" spc="71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СОЦИАЛЬНЫЙ ШЕРИНГ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910908" y="954143"/>
            <a:ext cx="7033144" cy="48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100" spc="-153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PNG-КАРТА</a:t>
            </a:r>
            <a:endParaRPr lang="en-US" sz="3800" dirty="0"/>
          </a:p>
        </p:txBody>
      </p:sp>
      <p:sp>
        <p:nvSpPr>
          <p:cNvPr id="15" name="Shape 10"/>
          <p:cNvSpPr/>
          <p:nvPr/>
        </p:nvSpPr>
        <p:spPr>
          <a:xfrm>
            <a:off x="4910908" y="1478062"/>
            <a:ext cx="1272548" cy="237034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999805" y="1533076"/>
            <a:ext cx="1704337" cy="14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100" spc="56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[HTML5 CANVAS]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257570" y="1478062"/>
            <a:ext cx="725172" cy="237034"/>
          </a:xfrm>
          <a:prstGeom prst="rect">
            <a:avLst/>
          </a:prstGeom>
          <a:solidFill>
            <a:srgbClr val="004D13"/>
          </a:solidFill>
          <a:ln/>
        </p:spPr>
      </p:sp>
      <p:sp>
        <p:nvSpPr>
          <p:cNvPr id="18" name="Text 13"/>
          <p:cNvSpPr/>
          <p:nvPr/>
        </p:nvSpPr>
        <p:spPr>
          <a:xfrm>
            <a:off x="6346468" y="1533076"/>
            <a:ext cx="1156961" cy="14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100" spc="56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1-CLICK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910908" y="1811845"/>
            <a:ext cx="7033144" cy="298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Рендеринг карточки персонажа с актуальным уровнем, серией побед и маскотом в растровый PNG.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10908" y="2227957"/>
            <a:ext cx="7033044" cy="19050"/>
          </a:xfrm>
          <a:prstGeom prst="roundRect">
            <a:avLst>
              <a:gd name="adj" fmla="val 49999"/>
            </a:avLst>
          </a:prstGeom>
          <a:solidFill>
            <a:srgbClr val="2E6D3F"/>
          </a:solidFill>
          <a:ln/>
        </p:spPr>
      </p:sp>
      <p:sp>
        <p:nvSpPr>
          <p:cNvPr id="21" name="Text 16"/>
          <p:cNvSpPr/>
          <p:nvPr/>
        </p:nvSpPr>
        <p:spPr>
          <a:xfrm>
            <a:off x="4910908" y="2380766"/>
            <a:ext cx="7033144" cy="596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dirty="0">
                <a:solidFill>
                  <a:srgbClr val="39FF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CLIPBOARD EXPORT:</a:t>
            </a:r>
            <a:r>
              <a:rPr lang="en-US" sz="10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автоматическое копирование изображения и сводки в буфер обмена для мессенджеров.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908" y="3057922"/>
            <a:ext cx="3263818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540293"/>
            <a:ext cx="11226519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НАДЁЖНОСТЬ: QUALITY ASSURANCE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82588" y="1171674"/>
            <a:ext cx="3437348" cy="5203726"/>
          </a:xfrm>
          <a:prstGeom prst="rect">
            <a:avLst/>
          </a:prstGeom>
          <a:noFill/>
          <a:ln w="190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0232" y="1419324"/>
            <a:ext cx="2942060" cy="358775"/>
          </a:xfrm>
          <a:prstGeom prst="rect">
            <a:avLst/>
          </a:prstGeom>
          <a:solidFill>
            <a:srgbClr val="223128"/>
          </a:solidFill>
          <a:ln/>
          <a:effectLst>
            <a:outerShdw blurRad="127" dist="24130" dir="5400000" algn="bl" rotWithShape="0">
              <a:srgbClr val="D8FFDE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32" y="1419324"/>
            <a:ext cx="2942060" cy="3587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1829" y="1501080"/>
            <a:ext cx="104782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qa.sanitize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713366" y="1501080"/>
            <a:ext cx="85732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[-][O][X]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0232" y="1974949"/>
            <a:ext cx="29420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НОРМАЛИЗАЦИЯ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0232" y="2387699"/>
          <a:ext cx="2942060" cy="1629726"/>
        </p:xfrm>
        <a:graphic>
          <a:graphicData uri="http://schemas.openxmlformats.org/drawingml/2006/table">
            <a:tbl>
              <a:tblPr/>
              <a:tblGrid>
                <a:gridCol w="123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СТРИП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strip()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ПУСТО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BLOCKED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КЛОНЫ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REJECTED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0232" y="2922475"/>
            <a:ext cx="2942060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11" name="Shape 7"/>
          <p:cNvSpPr/>
          <p:nvPr/>
        </p:nvSpPr>
        <p:spPr>
          <a:xfrm>
            <a:off x="730232" y="3469950"/>
            <a:ext cx="2942060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12" name="Text 8"/>
          <p:cNvSpPr/>
          <p:nvPr/>
        </p:nvSpPr>
        <p:spPr>
          <a:xfrm>
            <a:off x="730232" y="4370114"/>
            <a:ext cx="2942060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Отсечение пробелов, блокировка пустых строк и проверка уникальности имён привычек.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730232" y="5792589"/>
            <a:ext cx="1468103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5939" y="5864920"/>
            <a:ext cx="18262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[SANITIZED]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77124" y="1171674"/>
            <a:ext cx="3437348" cy="5203726"/>
          </a:xfrm>
          <a:prstGeom prst="rect">
            <a:avLst/>
          </a:prstGeom>
          <a:noFill/>
          <a:ln w="190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24768" y="1419324"/>
            <a:ext cx="2942060" cy="358775"/>
          </a:xfrm>
          <a:prstGeom prst="rect">
            <a:avLst/>
          </a:prstGeom>
          <a:solidFill>
            <a:srgbClr val="223128"/>
          </a:solidFill>
          <a:ln/>
          <a:effectLst>
            <a:outerShdw blurRad="127" dist="24130" dir="5400000" algn="bl" rotWithShape="0">
              <a:srgbClr val="D8FFDE">
                <a:alpha val="1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68" y="1419324"/>
            <a:ext cx="2942060" cy="3587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26365" y="1501080"/>
            <a:ext cx="123831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qa.anti-cheat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07903" y="1501080"/>
            <a:ext cx="85732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[-][O][X]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624768" y="1974949"/>
            <a:ext cx="29420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АНТИНАКРУТКА</a:t>
            </a:r>
            <a:endParaRPr lang="en-US" sz="2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24768" y="2387699"/>
          <a:ext cx="2942060" cy="1629726"/>
        </p:xfrm>
        <a:graphic>
          <a:graphicData uri="http://schemas.openxmlformats.org/drawingml/2006/table">
            <a:tbl>
              <a:tblPr/>
              <a:tblGrid>
                <a:gridCol w="1310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ЛИМИТ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 / DAY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КОНТРОЛЬ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DATE-TAG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ПОВТОР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IGNORED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6"/>
          <p:cNvSpPr/>
          <p:nvPr/>
        </p:nvSpPr>
        <p:spPr>
          <a:xfrm>
            <a:off x="4624768" y="2922475"/>
            <a:ext cx="2942060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23" name="Shape 17"/>
          <p:cNvSpPr/>
          <p:nvPr/>
        </p:nvSpPr>
        <p:spPr>
          <a:xfrm>
            <a:off x="4624768" y="3469950"/>
            <a:ext cx="2942060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24" name="Text 18"/>
          <p:cNvSpPr/>
          <p:nvPr/>
        </p:nvSpPr>
        <p:spPr>
          <a:xfrm>
            <a:off x="4624768" y="4370114"/>
            <a:ext cx="2942060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Защита от многократных кликов в пределах одной календарной даты: комбо растет честно.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4624768" y="5792589"/>
            <a:ext cx="1136324" cy="335161"/>
          </a:xfrm>
          <a:prstGeom prst="rect">
            <a:avLst/>
          </a:prstGeom>
          <a:solidFill>
            <a:srgbClr val="004D13"/>
          </a:solidFill>
          <a:ln/>
        </p:spPr>
      </p:sp>
      <p:sp>
        <p:nvSpPr>
          <p:cNvPr id="26" name="Text 20"/>
          <p:cNvSpPr/>
          <p:nvPr/>
        </p:nvSpPr>
        <p:spPr>
          <a:xfrm>
            <a:off x="4750475" y="5864920"/>
            <a:ext cx="149449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[LOCKED]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271660" y="1171674"/>
            <a:ext cx="3437447" cy="5203726"/>
          </a:xfrm>
          <a:prstGeom prst="rect">
            <a:avLst/>
          </a:prstGeom>
          <a:noFill/>
          <a:ln w="190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519304" y="1419324"/>
            <a:ext cx="2942159" cy="358775"/>
          </a:xfrm>
          <a:prstGeom prst="rect">
            <a:avLst/>
          </a:prstGeom>
          <a:solidFill>
            <a:srgbClr val="223128"/>
          </a:solidFill>
          <a:ln/>
          <a:effectLst>
            <a:outerShdw blurRad="127" dist="24130" dir="5400000" algn="bl" rotWithShape="0">
              <a:srgbClr val="D8FFDE">
                <a:alpha val="10000"/>
              </a:srgbClr>
            </a:outerShdw>
          </a:effectLst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304" y="1419324"/>
            <a:ext cx="2942159" cy="3587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620902" y="1501080"/>
            <a:ext cx="95257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qa.storage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0502538" y="1501080"/>
            <a:ext cx="85732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[-][O][X]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519304" y="1974949"/>
            <a:ext cx="29421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ЦЕЛОСТНОСТЬ</a:t>
            </a:r>
            <a:endParaRPr lang="en-US" sz="2400" dirty="0"/>
          </a:p>
        </p:txBody>
      </p:sp>
      <p:graphicFrame>
        <p:nvGraphicFramePr>
          <p:cNvPr id="3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19304" y="2387699"/>
          <a:ext cx="2942159" cy="1629726"/>
        </p:xfrm>
        <a:graphic>
          <a:graphicData uri="http://schemas.openxmlformats.org/drawingml/2006/table">
            <a:tbl>
              <a:tblPr/>
              <a:tblGrid>
                <a:gridCol w="123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ФАЙЛ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JSON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TRY-EX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ACTIVE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СБОЙ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FALLBACK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Shape 26"/>
          <p:cNvSpPr/>
          <p:nvPr/>
        </p:nvSpPr>
        <p:spPr>
          <a:xfrm>
            <a:off x="8519304" y="2922475"/>
            <a:ext cx="2942159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35" name="Shape 27"/>
          <p:cNvSpPr/>
          <p:nvPr/>
        </p:nvSpPr>
        <p:spPr>
          <a:xfrm>
            <a:off x="8519304" y="3469950"/>
            <a:ext cx="2942159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36" name="Text 28"/>
          <p:cNvSpPr/>
          <p:nvPr/>
        </p:nvSpPr>
        <p:spPr>
          <a:xfrm>
            <a:off x="8519304" y="4370114"/>
            <a:ext cx="2942159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Проверка JSON на старте. Если файл повреждён или пуст, создаётся дефолтная схема.</a:t>
            </a:r>
            <a:endParaRPr lang="en-US" sz="1450" dirty="0"/>
          </a:p>
        </p:txBody>
      </p:sp>
      <p:sp>
        <p:nvSpPr>
          <p:cNvPr id="37" name="Shape 29"/>
          <p:cNvSpPr/>
          <p:nvPr/>
        </p:nvSpPr>
        <p:spPr>
          <a:xfrm>
            <a:off x="8519304" y="5792589"/>
            <a:ext cx="1468103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645011" y="5864920"/>
            <a:ext cx="182627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[SAFE-BOOT]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3043" y="247650"/>
            <a:ext cx="11645609" cy="358775"/>
          </a:xfrm>
          <a:prstGeom prst="rect">
            <a:avLst/>
          </a:prstGeom>
          <a:solidFill>
            <a:srgbClr val="223128"/>
          </a:solidFill>
          <a:ln/>
          <a:effectLst>
            <a:outerShdw blurRad="127" dist="24130" dir="5400000" algn="bl" rotWithShape="0">
              <a:srgbClr val="D8FFDE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43" y="247650"/>
            <a:ext cx="11645609" cy="358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3043" y="253206"/>
            <a:ext cx="11645609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D4F7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TESTPLAN.LOG — /REPORTS [—] [□] [X]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73043" y="1000668"/>
            <a:ext cx="11645609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ТЕСТИРОВАНИЕ: КЛЮЧЕВЫЕ СЦЕНАРИИ</a:t>
            </a:r>
            <a:endParaRPr lang="en-US" sz="3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3043" y="1632049"/>
          <a:ext cx="11645608" cy="3756525"/>
        </p:xfrm>
        <a:graphic>
          <a:graphicData uri="http://schemas.openxmlformats.org/drawingml/2006/table">
            <a:tbl>
              <a:tblPr/>
              <a:tblGrid>
                <a:gridCol w="1397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2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100" spc="132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ID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100" spc="132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ТИП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100" spc="132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СЦЕНАРИЙ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100" spc="132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ОЖИДАЕМЫЙ РЕЗУЛЬТАТ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TC-01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Основной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Добавить «Читать 20 мин»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Квест в списке, </a:t>
                      </a:r>
                      <a:r>
                        <a:rPr lang="en-US" sz="14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+15 XP</a:t>
                      </a: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, звук клика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TC-02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Основной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Нажать «ВЫПОЛНИТЬ»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Статус «✔ ЗАКРЫТ», </a:t>
                      </a:r>
                      <a:r>
                        <a:rPr lang="en-US" sz="14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комбо x1</a:t>
                      </a: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, шкала дня растёт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3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TC-05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Ошибка ввода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Пустое поле ввода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Алерт «Имя квеста не может быть пустым»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3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TC-06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Ошибка ввода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Существующее имя квеста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Алерт «Такой квест уже записан!», нет дубля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TC-08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Граничный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Вкладка фильтра «ГОТОВО»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Отображаются </a:t>
                      </a:r>
                      <a:r>
                        <a:rPr lang="en-US" sz="14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только</a:t>
                      </a:r>
                      <a:r>
                        <a:rPr lang="en-US" sz="14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 закрытые сегодня задачи</a:t>
                      </a:r>
                      <a:endParaRPr lang="en-US" sz="14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3043" y="5597426"/>
            <a:ext cx="1191865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7DFFA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TEST REPORT: 5/5 PASSED · VERIFIED BY GITHUB TEST PLAN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4728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644" y="253206"/>
            <a:ext cx="5051993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STATUS.REPORT — /RESULT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247644" y="1000668"/>
            <a:ext cx="5051993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ИТОГИ ПРОЕКТА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47644" y="1641701"/>
            <a:ext cx="5051993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Полностью рабочий веб-продукт, размещенный в публичном репозитории </a:t>
            </a:r>
            <a:r>
              <a:rPr lang="en-US" sz="1900" b="1" dirty="0">
                <a:solidFill>
                  <a:srgbClr val="B8F7C2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gkillg</a:t>
            </a:r>
            <a:r>
              <a:rPr lang="en-US" sz="190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на GitHub и готовый к ежедневному использованию.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247644" y="6275189"/>
            <a:ext cx="1578729" cy="335161"/>
          </a:xfrm>
          <a:prstGeom prst="rect">
            <a:avLst/>
          </a:prstGeom>
          <a:solidFill>
            <a:srgbClr val="004D13"/>
          </a:solidFill>
          <a:ln/>
        </p:spPr>
      </p:sp>
      <p:sp>
        <p:nvSpPr>
          <p:cNvPr id="7" name="Text 4"/>
          <p:cNvSpPr/>
          <p:nvPr/>
        </p:nvSpPr>
        <p:spPr>
          <a:xfrm>
            <a:off x="373351" y="6347520"/>
            <a:ext cx="1936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STABLE BUILD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31145" y="6275189"/>
            <a:ext cx="915072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6852" y="6347520"/>
            <a:ext cx="12732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TESTED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974" y="0"/>
            <a:ext cx="6339721" cy="685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99618" y="253206"/>
            <a:ext cx="5844433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ROADMAP.PLAN — /FUTURE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150416" y="918766"/>
            <a:ext cx="579363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ЭТАП 01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150416" y="1204119"/>
            <a:ext cx="57428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Авторизация и профили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150416" y="1643285"/>
            <a:ext cx="5742836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Многопользовательский режим с регистрацией и сохранением персональных настроек.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150416" y="2388592"/>
            <a:ext cx="579363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ЭТАП 02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150416" y="2673945"/>
            <a:ext cx="57428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Миграция в реляционную БД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150416" y="3113111"/>
            <a:ext cx="5742836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Переход с локального JSON-файла на SQLite / PostgreSQL для масштабирования.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150416" y="3858419"/>
            <a:ext cx="579363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ЭТАП 03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150416" y="4143772"/>
            <a:ext cx="57428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D7FFE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Глобальный Leaderboard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150416" y="4582938"/>
            <a:ext cx="5742836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Рейтинговая таблица игроков по максимальным комбо-сериям и заработанным уровням.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099618" y="2247702"/>
            <a:ext cx="5844433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22" name="Shape 18"/>
          <p:cNvSpPr/>
          <p:nvPr/>
        </p:nvSpPr>
        <p:spPr>
          <a:xfrm>
            <a:off x="6099618" y="3717528"/>
            <a:ext cx="5844433" cy="12700"/>
          </a:xfrm>
          <a:prstGeom prst="rect">
            <a:avLst/>
          </a:prstGeom>
          <a:solidFill>
            <a:srgbClr val="2E6D3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1336675"/>
          </a:xfrm>
          <a:prstGeom prst="rect">
            <a:avLst/>
          </a:prstGeom>
          <a:solidFill>
            <a:srgbClr val="17231C"/>
          </a:solidFill>
          <a:ln w="6350">
            <a:solidFill>
              <a:srgbClr val="2E6D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7532" y="596106"/>
            <a:ext cx="236224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SESSION.CLOSE — /Q&amp;A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331092" y="596106"/>
            <a:ext cx="160025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EXIT_SUCCESS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399" y="1362075"/>
            <a:ext cx="12140896" cy="4133850"/>
          </a:xfrm>
          <a:prstGeom prst="rect">
            <a:avLst/>
          </a:prstGeom>
          <a:solidFill>
            <a:srgbClr val="07110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1" y="1616075"/>
            <a:ext cx="11480513" cy="3625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7684" y="1915716"/>
            <a:ext cx="65936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ЗАЩИТА СРО ЗАВЕРШЕНА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7684" y="2271713"/>
            <a:ext cx="631422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216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СПАСИБО ЗА</a:t>
            </a:r>
            <a:endParaRPr lang="en-US" sz="5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216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ВНИМАНИЕ!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7684" y="3750469"/>
            <a:ext cx="631422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Буду рад ответить на ваши вопросы.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7684" y="4636222"/>
            <a:ext cx="659361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&gt; AWAITING_QUESTIONS_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241299" y="1628775"/>
            <a:ext cx="4582105" cy="3600450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01643" y="1908175"/>
            <a:ext cx="406141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КОНТАКТЫ &amp; РЕПО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01643" y="2510830"/>
          <a:ext cx="4061418" cy="2457983"/>
        </p:xfrm>
        <a:graphic>
          <a:graphicData uri="http://schemas.openxmlformats.org/drawingml/2006/table">
            <a:tbl>
              <a:tblPr/>
              <a:tblGrid>
                <a:gridCol w="175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ПРОЕКТ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Habby v1.0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ГРУППА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ИС-25-22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GITHUB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gkillg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5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ПАПКА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9FF6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СРО Tracker Habbits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501643" y="3045605"/>
            <a:ext cx="4061418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15" name="Shape 11"/>
          <p:cNvSpPr/>
          <p:nvPr/>
        </p:nvSpPr>
        <p:spPr>
          <a:xfrm>
            <a:off x="7501643" y="3593081"/>
            <a:ext cx="4061418" cy="12700"/>
          </a:xfrm>
          <a:prstGeom prst="rect">
            <a:avLst/>
          </a:prstGeom>
          <a:solidFill>
            <a:srgbClr val="2E6D3F"/>
          </a:solidFill>
          <a:ln/>
        </p:spPr>
      </p:sp>
      <p:sp>
        <p:nvSpPr>
          <p:cNvPr id="16" name="Shape 12"/>
          <p:cNvSpPr/>
          <p:nvPr/>
        </p:nvSpPr>
        <p:spPr>
          <a:xfrm>
            <a:off x="7501643" y="4140556"/>
            <a:ext cx="4061418" cy="12700"/>
          </a:xfrm>
          <a:prstGeom prst="rect">
            <a:avLst/>
          </a:prstGeom>
          <a:solidFill>
            <a:srgbClr val="2E6D3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495925"/>
            <a:ext cx="12140896" cy="1336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532" y="6066631"/>
            <a:ext cx="360045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HABBY · 8-BIT PIXEL HABIT TRACKER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140197" y="6066631"/>
            <a:ext cx="579115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github.com/gkillg/programming-languages-and-technologies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234949" y="1628775"/>
            <a:ext cx="12700" cy="3600450"/>
          </a:xfrm>
          <a:prstGeom prst="rect">
            <a:avLst/>
          </a:prstGeom>
          <a:solidFill>
            <a:srgbClr val="2E6D3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1448</Words>
  <Application>Microsoft Office PowerPoint</Application>
  <PresentationFormat>Широкоэкранный</PresentationFormat>
  <Paragraphs>200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Calibri</vt:lpstr>
      <vt:lpstr>IBM Plex Mono Bold</vt:lpstr>
      <vt:lpstr>IBM Plex Mono SemiBold</vt:lpstr>
      <vt:lpstr>IBM Plex Mono</vt:lpstr>
      <vt:lpstr>Arial</vt:lpstr>
      <vt:lpstr>IBM Plex Mono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Student</cp:lastModifiedBy>
  <cp:revision>4</cp:revision>
  <dcterms:created xsi:type="dcterms:W3CDTF">2026-10-21T08:05:17Z</dcterms:created>
  <dcterms:modified xsi:type="dcterms:W3CDTF">2026-10-21T09:02:11Z</dcterms:modified>
</cp:coreProperties>
</file>